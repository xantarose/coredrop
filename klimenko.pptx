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Raleway Heavy" charset="1" panose="00000000000000000000"/>
      <p:regular r:id="rId19"/>
    </p:embeddedFont>
    <p:embeddedFont>
      <p:font typeface="Raleway Bold" charset="1" panose="00000000000000000000"/>
      <p:regular r:id="rId20"/>
    </p:embeddedFont>
    <p:embeddedFont>
      <p:font typeface="Times New Roman Bold" charset="1" panose="02020803070505020304"/>
      <p:regular r:id="rId21"/>
    </p:embeddedFont>
    <p:embeddedFont>
      <p:font typeface="Montserrat" charset="1" panose="00000500000000000000"/>
      <p:regular r:id="rId22"/>
    </p:embeddedFont>
    <p:embeddedFont>
      <p:font typeface="Raleway" charset="1" panose="00000000000000000000"/>
      <p:regular r:id="rId23"/>
    </p:embeddedFont>
    <p:embeddedFont>
      <p:font typeface="Open Sans Bold" charset="1" panose="020B0806030504020204"/>
      <p:regular r:id="rId24"/>
    </p:embeddedFont>
    <p:embeddedFont>
      <p:font typeface="Arimo Bold" charset="1" panose="020B0704020202020204"/>
      <p:regular r:id="rId25"/>
    </p:embeddedFont>
    <p:embeddedFont>
      <p:font typeface="Arimo" charset="1" panose="020B0604020202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jpeg" Type="http://schemas.openxmlformats.org/officeDocument/2006/relationships/image"/><Relationship Id="rId4" Target="../media/image13.png" Type="http://schemas.openxmlformats.org/officeDocument/2006/relationships/image"/><Relationship Id="rId5" Target="../embeddings/oleObject1.bin" Type="http://schemas.openxmlformats.org/officeDocument/2006/relationships/oleObject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2283244">
            <a:off x="-4759168" y="4375423"/>
            <a:ext cx="10358005" cy="10410055"/>
          </a:xfrm>
          <a:custGeom>
            <a:avLst/>
            <a:gdLst/>
            <a:ahLst/>
            <a:cxnLst/>
            <a:rect r="r" b="b" t="t" l="l"/>
            <a:pathLst>
              <a:path h="10410055" w="10358005">
                <a:moveTo>
                  <a:pt x="10358005" y="0"/>
                </a:moveTo>
                <a:lnTo>
                  <a:pt x="0" y="0"/>
                </a:lnTo>
                <a:lnTo>
                  <a:pt x="0" y="10410055"/>
                </a:lnTo>
                <a:lnTo>
                  <a:pt x="10358005" y="10410055"/>
                </a:lnTo>
                <a:lnTo>
                  <a:pt x="10358005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30741" y="-10904054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2455026" y="-917369"/>
            <a:ext cx="4220884" cy="422088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354474" y="6353474"/>
            <a:ext cx="5809652" cy="580965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309115" y="959401"/>
            <a:ext cx="787433" cy="787433"/>
          </a:xfrm>
          <a:custGeom>
            <a:avLst/>
            <a:gdLst/>
            <a:ahLst/>
            <a:cxnLst/>
            <a:rect r="r" b="b" t="t" l="l"/>
            <a:pathLst>
              <a:path h="787433" w="787433">
                <a:moveTo>
                  <a:pt x="0" y="0"/>
                </a:moveTo>
                <a:lnTo>
                  <a:pt x="787434" y="0"/>
                </a:lnTo>
                <a:lnTo>
                  <a:pt x="787434" y="787434"/>
                </a:lnTo>
                <a:lnTo>
                  <a:pt x="0" y="78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51607" y="3064684"/>
            <a:ext cx="11730461" cy="2423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90"/>
              </a:lnSpc>
              <a:spcBef>
                <a:spcPct val="0"/>
              </a:spcBef>
            </a:pPr>
            <a:r>
              <a:rPr lang="en-US" b="true" sz="17682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CoreDrop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49673" y="5286375"/>
            <a:ext cx="6987305" cy="2585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84"/>
              </a:lnSpc>
              <a:spcBef>
                <a:spcPct val="0"/>
              </a:spcBef>
            </a:pPr>
            <a:r>
              <a:rPr lang="en-US" b="true" sz="9600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Облачное хранилище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49673" y="8422699"/>
            <a:ext cx="7285371" cy="1160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80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Автор проекта:</a:t>
            </a:r>
          </a:p>
          <a:p>
            <a:pPr algn="l">
              <a:lnSpc>
                <a:spcPts val="1872"/>
              </a:lnSpc>
            </a:pPr>
            <a:r>
              <a:rPr lang="en-US" sz="180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Клименко Илья Иванович, 11 “A” класс</a:t>
            </a:r>
          </a:p>
          <a:p>
            <a:pPr algn="l">
              <a:lnSpc>
                <a:spcPts val="1872"/>
              </a:lnSpc>
            </a:pPr>
          </a:p>
          <a:p>
            <a:pPr algn="l">
              <a:lnSpc>
                <a:spcPts val="1872"/>
              </a:lnSpc>
            </a:pPr>
            <a:r>
              <a:rPr lang="en-US" sz="180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Руководитель проекта:</a:t>
            </a:r>
          </a:p>
          <a:p>
            <a:pPr algn="l">
              <a:lnSpc>
                <a:spcPts val="1872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Чепуренко Виктория Олеговна, учитель информатики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42454" y="684716"/>
            <a:ext cx="8003091" cy="1604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998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муниципальное общеобразовательное бюджетное учреждение средняя общеобразовательная школа № 9</a:t>
            </a:r>
          </a:p>
          <a:p>
            <a:pPr algn="l">
              <a:lnSpc>
                <a:spcPts val="3118"/>
              </a:lnSpc>
              <a:spcBef>
                <a:spcPct val="0"/>
              </a:spcBef>
            </a:pPr>
            <a:r>
              <a:rPr lang="en-US" b="true" sz="299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 углубленным изучением английского языка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2026</a:t>
            </a:r>
          </a:p>
        </p:txBody>
      </p:sp>
      <p:sp>
        <p:nvSpPr>
          <p:cNvPr name="TextBox 16" id="16"/>
          <p:cNvSpPr txBox="true"/>
          <p:nvPr/>
        </p:nvSpPr>
        <p:spPr>
          <a:xfrm rot="-5400000">
            <a:off x="129306" y="8871810"/>
            <a:ext cx="1078468" cy="24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61483" y="2951751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09115" y="959401"/>
            <a:ext cx="787433" cy="787433"/>
          </a:xfrm>
          <a:custGeom>
            <a:avLst/>
            <a:gdLst/>
            <a:ahLst/>
            <a:cxnLst/>
            <a:rect r="r" b="b" t="t" l="l"/>
            <a:pathLst>
              <a:path h="787433" w="787433">
                <a:moveTo>
                  <a:pt x="0" y="0"/>
                </a:moveTo>
                <a:lnTo>
                  <a:pt x="787434" y="0"/>
                </a:lnTo>
                <a:lnTo>
                  <a:pt x="787434" y="787434"/>
                </a:lnTo>
                <a:lnTo>
                  <a:pt x="0" y="78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3592503" y="1028700"/>
            <a:ext cx="4907895" cy="3940506"/>
            <a:chOff x="0" y="0"/>
            <a:chExt cx="7467600" cy="59956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gradFill rotWithShape="true">
              <a:gsLst>
                <a:gs pos="0">
                  <a:srgbClr val="1F1A1A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5"/>
              <a:stretch>
                <a:fillRect l="-9288" t="0" r="-9288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www.coredrop.ru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51497" y="4566297"/>
            <a:ext cx="6926438" cy="4853766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9144000" y="5105400"/>
            <a:ext cx="7477582" cy="3699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7367" indent="-228683" lvl="1">
              <a:lnSpc>
                <a:spcPts val="2965"/>
              </a:lnSpc>
              <a:buFont typeface="Arial"/>
              <a:buChar char="•"/>
            </a:pPr>
            <a:r>
              <a:rPr lang="en-US" b="true" sz="2118">
                <a:solidFill>
                  <a:srgbClr val="FFFFF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В 2026 году объём цифровых данных растёт экспоненциально</a:t>
            </a:r>
          </a:p>
          <a:p>
            <a:pPr algn="l" marL="457367" indent="-228683" lvl="1">
              <a:lnSpc>
                <a:spcPts val="2965"/>
              </a:lnSpc>
              <a:buFont typeface="Arial"/>
              <a:buChar char="•"/>
            </a:pPr>
            <a:r>
              <a:rPr lang="en-US" b="true" sz="2118">
                <a:solidFill>
                  <a:srgbClr val="FFFFF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Флешки и диски теряются, ломаются</a:t>
            </a:r>
          </a:p>
          <a:p>
            <a:pPr algn="l" marL="457367" indent="-228683" lvl="1">
              <a:lnSpc>
                <a:spcPts val="2965"/>
              </a:lnSpc>
              <a:buFont typeface="Arial"/>
              <a:buChar char="•"/>
            </a:pPr>
            <a:r>
              <a:rPr lang="en-US" b="true" sz="2118">
                <a:solidFill>
                  <a:srgbClr val="FFFFF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Облачные сервисы (Google Drive, Яндекс.Диск) имеют ограничения</a:t>
            </a:r>
          </a:p>
          <a:p>
            <a:pPr algn="l" marL="457367" indent="-228683" lvl="1">
              <a:lnSpc>
                <a:spcPts val="2965"/>
              </a:lnSpc>
              <a:buFont typeface="Arial"/>
              <a:buChar char="•"/>
            </a:pPr>
            <a:r>
              <a:rPr lang="en-US" b="true" sz="2118">
                <a:solidFill>
                  <a:srgbClr val="FFFFF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Нужен свой сервис с полным контролем</a:t>
            </a:r>
          </a:p>
          <a:p>
            <a:pPr algn="l">
              <a:lnSpc>
                <a:spcPts val="2965"/>
              </a:lnSpc>
            </a:pPr>
          </a:p>
          <a:p>
            <a:pPr algn="l">
              <a:lnSpc>
                <a:spcPts val="2965"/>
              </a:lnSpc>
            </a:pPr>
            <a:r>
              <a:rPr lang="en-US" sz="2118" b="true">
                <a:solidFill>
                  <a:srgbClr val="FFFFF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Существующие облака либо платные, либо не дают пользователю полного контроля над данными</a:t>
            </a:r>
          </a:p>
          <a:p>
            <a:pPr algn="l">
              <a:lnSpc>
                <a:spcPts val="2965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Page 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2649947"/>
            <a:ext cx="7005522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Актуальность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3553421"/>
            <a:ext cx="5356854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проекта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260708" y="1861135"/>
            <a:ext cx="5374805" cy="111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6"/>
              </a:lnSpc>
              <a:spcBef>
                <a:spcPct val="0"/>
              </a:spcBef>
            </a:pPr>
            <a:r>
              <a:rPr lang="en-US" b="true" sz="8102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Цели и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71472" y="1861135"/>
            <a:ext cx="3955820" cy="111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6"/>
              </a:lnSpc>
              <a:spcBef>
                <a:spcPct val="0"/>
              </a:spcBef>
            </a:pPr>
            <a:r>
              <a:rPr lang="en-US" b="true" sz="8102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задачи</a:t>
            </a:r>
          </a:p>
        </p:txBody>
      </p:sp>
      <p:sp>
        <p:nvSpPr>
          <p:cNvPr name="TextBox 5" id="5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Page 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787240" y="3132406"/>
            <a:ext cx="4181174" cy="418117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309115" y="959401"/>
            <a:ext cx="787433" cy="787433"/>
          </a:xfrm>
          <a:custGeom>
            <a:avLst/>
            <a:gdLst/>
            <a:ahLst/>
            <a:cxnLst/>
            <a:rect r="r" b="b" t="t" l="l"/>
            <a:pathLst>
              <a:path h="787433" w="787433">
                <a:moveTo>
                  <a:pt x="0" y="0"/>
                </a:moveTo>
                <a:lnTo>
                  <a:pt x="787434" y="0"/>
                </a:lnTo>
                <a:lnTo>
                  <a:pt x="787434" y="787434"/>
                </a:lnTo>
                <a:lnTo>
                  <a:pt x="0" y="7874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www.coredrop.ru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2522" y="3715415"/>
            <a:ext cx="15482957" cy="4638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9"/>
              </a:lnSpc>
              <a:spcBef>
                <a:spcPct val="0"/>
              </a:spcBef>
            </a:pPr>
            <a:r>
              <a:rPr lang="en-US" b="true" sz="280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Целью выполняемой работы является</a:t>
            </a:r>
            <a:r>
              <a:rPr lang="en-US" b="true" sz="280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разработка удобного и функционального облачного хранилища личных данных «CoreDrop».</a:t>
            </a:r>
          </a:p>
          <a:p>
            <a:pPr algn="ctr">
              <a:lnSpc>
                <a:spcPts val="2919"/>
              </a:lnSpc>
              <a:spcBef>
                <a:spcPct val="0"/>
              </a:spcBef>
            </a:pPr>
          </a:p>
          <a:p>
            <a:pPr algn="ctr">
              <a:lnSpc>
                <a:spcPts val="2919"/>
              </a:lnSpc>
              <a:spcBef>
                <a:spcPct val="0"/>
              </a:spcBef>
            </a:pPr>
            <a:r>
              <a:rPr lang="en-US" b="true" sz="280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Задачами проекта являются:</a:t>
            </a:r>
          </a:p>
          <a:p>
            <a:pPr algn="ctr">
              <a:lnSpc>
                <a:spcPts val="2919"/>
              </a:lnSpc>
              <a:spcBef>
                <a:spcPct val="0"/>
              </a:spcBef>
            </a:pPr>
          </a:p>
          <a:p>
            <a:pPr algn="l" marL="606089" indent="-303044" lvl="1">
              <a:lnSpc>
                <a:spcPts val="3845"/>
              </a:lnSpc>
              <a:buAutoNum type="arabicPeriod" startAt="1"/>
            </a:pPr>
            <a:r>
              <a:rPr lang="en-US" b="true" sz="280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А</a:t>
            </a:r>
            <a:r>
              <a:rPr lang="en-US" b="true" sz="280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нализ существующих облачных хранилищ и их особенностей;</a:t>
            </a:r>
          </a:p>
          <a:p>
            <a:pPr algn="l" marL="606089" indent="-303044" lvl="1">
              <a:lnSpc>
                <a:spcPts val="3845"/>
              </a:lnSpc>
              <a:buAutoNum type="arabicPeriod" startAt="1"/>
            </a:pPr>
            <a:r>
              <a:rPr lang="en-US" b="true" sz="280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проектирование структуры облачного хранилища, в том числе проектирование интерфейса;</a:t>
            </a:r>
          </a:p>
          <a:p>
            <a:pPr algn="l" marL="606089" indent="-303044" lvl="1">
              <a:lnSpc>
                <a:spcPts val="3845"/>
              </a:lnSpc>
              <a:buAutoNum type="arabicPeriod" startAt="1"/>
            </a:pPr>
            <a:r>
              <a:rPr lang="en-US" b="true" sz="280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реализация программны</a:t>
            </a:r>
            <a:r>
              <a:rPr lang="en-US" b="true" sz="280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х компонентов облачного хранилища;</a:t>
            </a:r>
          </a:p>
          <a:p>
            <a:pPr algn="l" marL="606089" indent="-303044" lvl="1">
              <a:lnSpc>
                <a:spcPts val="3845"/>
              </a:lnSpc>
              <a:buAutoNum type="arabicPeriod" startAt="1"/>
            </a:pPr>
            <a:r>
              <a:rPr lang="en-US" b="true" sz="280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тестирование и отладка разработанного облачного хранилища.</a:t>
            </a:r>
          </a:p>
          <a:p>
            <a:pPr algn="l">
              <a:lnSpc>
                <a:spcPts val="2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252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5426888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Page 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79691" y="4082680"/>
            <a:ext cx="5375655" cy="99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63"/>
              </a:lnSpc>
              <a:spcBef>
                <a:spcPct val="0"/>
              </a:spcBef>
            </a:pPr>
            <a:r>
              <a:rPr lang="en-US" b="true" sz="7175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Готовый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79691" y="4976629"/>
            <a:ext cx="5375655" cy="93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7"/>
              </a:lnSpc>
              <a:spcBef>
                <a:spcPct val="0"/>
              </a:spcBef>
            </a:pPr>
            <a:r>
              <a:rPr lang="en-US" b="true" sz="67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функционал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85807" y="2467346"/>
            <a:ext cx="2938691" cy="98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Хранение файлов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10207" y="2451319"/>
            <a:ext cx="2386342" cy="98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Избранное и папки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85807" y="5628305"/>
            <a:ext cx="2938691" cy="98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Двухфакторная аутентификация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10207" y="5644332"/>
            <a:ext cx="2938691" cy="98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Публичные ссылки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83017" y="3597114"/>
            <a:ext cx="3496132" cy="111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Загрузка с компьютера, телефона, планшета и остальных гаджетов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10207" y="3597114"/>
            <a:ext cx="4069405" cy="148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Быстрый доступ к важным файлам. Создание, удаление, перемещение файлов по усмотрению пользователя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85807" y="6911814"/>
            <a:ext cx="3496132" cy="148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Защита аккаунта через Google Authenticator для обеспечения ещё больше безопасности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0706" y="6875277"/>
            <a:ext cx="3496132" cy="111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5"/>
              </a:lnSpc>
            </a:pPr>
            <a:r>
              <a:rPr lang="en-US" sz="2118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Доступ к файлам/папкам пользователя по ссылке без регистрации</a:t>
            </a:r>
          </a:p>
        </p:txBody>
      </p:sp>
      <p:grpSp>
        <p:nvGrpSpPr>
          <p:cNvPr name="Group 16" id="16"/>
          <p:cNvGrpSpPr/>
          <p:nvPr/>
        </p:nvGrpSpPr>
        <p:grpSpPr>
          <a:xfrm rot="2087854">
            <a:off x="-2404070" y="2678097"/>
            <a:ext cx="4186641" cy="418664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90575" cap="sq">
              <a:gradFill>
                <a:gsLst>
                  <a:gs pos="0">
                    <a:srgbClr val="F5DFF0">
                      <a:alpha val="29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5309115" y="959401"/>
            <a:ext cx="787433" cy="787433"/>
          </a:xfrm>
          <a:custGeom>
            <a:avLst/>
            <a:gdLst/>
            <a:ahLst/>
            <a:cxnLst/>
            <a:rect r="r" b="b" t="t" l="l"/>
            <a:pathLst>
              <a:path h="787433" w="787433">
                <a:moveTo>
                  <a:pt x="0" y="0"/>
                </a:moveTo>
                <a:lnTo>
                  <a:pt x="787434" y="0"/>
                </a:lnTo>
                <a:lnTo>
                  <a:pt x="787434" y="787434"/>
                </a:lnTo>
                <a:lnTo>
                  <a:pt x="0" y="78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www.coredrop.ru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91578" y="2562596"/>
            <a:ext cx="456104" cy="356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📁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021731" y="2546569"/>
            <a:ext cx="446187" cy="356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⭐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195625" y="5723555"/>
            <a:ext cx="446187" cy="356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🔒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021731" y="5723555"/>
            <a:ext cx="446187" cy="356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🔗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37055" y="-10917804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451314" y="3443261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781718" y="1857361"/>
            <a:ext cx="456104" cy="456104"/>
            <a:chOff x="0" y="0"/>
            <a:chExt cx="120126" cy="120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0126" cy="120126"/>
            </a:xfrm>
            <a:custGeom>
              <a:avLst/>
              <a:gdLst/>
              <a:ahLst/>
              <a:cxnLst/>
              <a:rect r="r" b="b" t="t" l="l"/>
              <a:pathLst>
                <a:path h="120126" w="120126">
                  <a:moveTo>
                    <a:pt x="0" y="0"/>
                  </a:moveTo>
                  <a:lnTo>
                    <a:pt x="120126" y="0"/>
                  </a:lnTo>
                  <a:lnTo>
                    <a:pt x="120126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20126" cy="91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781718" y="3536008"/>
            <a:ext cx="456104" cy="456104"/>
            <a:chOff x="0" y="0"/>
            <a:chExt cx="120126" cy="12012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0126" cy="120126"/>
            </a:xfrm>
            <a:custGeom>
              <a:avLst/>
              <a:gdLst/>
              <a:ahLst/>
              <a:cxnLst/>
              <a:rect r="r" b="b" t="t" l="l"/>
              <a:pathLst>
                <a:path h="120126" w="120126">
                  <a:moveTo>
                    <a:pt x="0" y="0"/>
                  </a:moveTo>
                  <a:lnTo>
                    <a:pt x="120126" y="0"/>
                  </a:lnTo>
                  <a:lnTo>
                    <a:pt x="120126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120126" cy="91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309115" y="959401"/>
            <a:ext cx="787433" cy="787433"/>
          </a:xfrm>
          <a:custGeom>
            <a:avLst/>
            <a:gdLst/>
            <a:ahLst/>
            <a:cxnLst/>
            <a:rect r="r" b="b" t="t" l="l"/>
            <a:pathLst>
              <a:path h="787433" w="787433">
                <a:moveTo>
                  <a:pt x="0" y="0"/>
                </a:moveTo>
                <a:lnTo>
                  <a:pt x="787434" y="0"/>
                </a:lnTo>
                <a:lnTo>
                  <a:pt x="787434" y="787434"/>
                </a:lnTo>
                <a:lnTo>
                  <a:pt x="0" y="78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781718" y="5179398"/>
            <a:ext cx="456104" cy="456104"/>
            <a:chOff x="0" y="0"/>
            <a:chExt cx="120126" cy="1201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0126" cy="120126"/>
            </a:xfrm>
            <a:custGeom>
              <a:avLst/>
              <a:gdLst/>
              <a:ahLst/>
              <a:cxnLst/>
              <a:rect r="r" b="b" t="t" l="l"/>
              <a:pathLst>
                <a:path h="120126" w="120126">
                  <a:moveTo>
                    <a:pt x="0" y="0"/>
                  </a:moveTo>
                  <a:lnTo>
                    <a:pt x="120126" y="0"/>
                  </a:lnTo>
                  <a:lnTo>
                    <a:pt x="120126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120126" cy="91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81718" y="6923493"/>
            <a:ext cx="456104" cy="456104"/>
            <a:chOff x="0" y="0"/>
            <a:chExt cx="120126" cy="12012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0126" cy="120126"/>
            </a:xfrm>
            <a:custGeom>
              <a:avLst/>
              <a:gdLst/>
              <a:ahLst/>
              <a:cxnLst/>
              <a:rect r="r" b="b" t="t" l="l"/>
              <a:pathLst>
                <a:path h="120126" w="120126">
                  <a:moveTo>
                    <a:pt x="0" y="0"/>
                  </a:moveTo>
                  <a:lnTo>
                    <a:pt x="120126" y="0"/>
                  </a:lnTo>
                  <a:lnTo>
                    <a:pt x="120126" y="120126"/>
                  </a:lnTo>
                  <a:lnTo>
                    <a:pt x="0" y="120126"/>
                  </a:ln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120126" cy="91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790168" y="4202653"/>
            <a:ext cx="8179567" cy="4048886"/>
          </a:xfrm>
          <a:custGeom>
            <a:avLst/>
            <a:gdLst/>
            <a:ahLst/>
            <a:cxnLst/>
            <a:rect r="r" b="b" t="t" l="l"/>
            <a:pathLst>
              <a:path h="4048886" w="8179567">
                <a:moveTo>
                  <a:pt x="0" y="0"/>
                </a:moveTo>
                <a:lnTo>
                  <a:pt x="8179567" y="0"/>
                </a:lnTo>
                <a:lnTo>
                  <a:pt x="8179567" y="4048886"/>
                </a:lnTo>
                <a:lnTo>
                  <a:pt x="0" y="40488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2026</a:t>
            </a:r>
          </a:p>
        </p:txBody>
      </p:sp>
      <p:sp>
        <p:nvSpPr>
          <p:cNvPr name="TextBox 19" id="19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Page 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1143000"/>
            <a:ext cx="6910133" cy="117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21"/>
              </a:lnSpc>
              <a:spcBef>
                <a:spcPct val="0"/>
              </a:spcBef>
            </a:pPr>
            <a:r>
              <a:rPr lang="en-US" b="true" sz="8482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Технологии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81718" y="2742091"/>
            <a:ext cx="7477582" cy="365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5"/>
              </a:lnSpc>
            </a:pPr>
            <a:r>
              <a:rPr lang="en-US" sz="2118" b="true">
                <a:solidFill>
                  <a:srgbClr val="FFFFFA"/>
                </a:solidFill>
                <a:latin typeface="Arimo Bold"/>
                <a:ea typeface="Arimo Bold"/>
                <a:cs typeface="Arimo Bold"/>
                <a:sym typeface="Arimo Bold"/>
              </a:rPr>
              <a:t>Node.js, Express, S3 хранилище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593961" y="1784641"/>
            <a:ext cx="2938691" cy="4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Сервер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62151" y="4328330"/>
            <a:ext cx="7477582" cy="374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5"/>
              </a:lnSpc>
            </a:pPr>
            <a:r>
              <a:rPr lang="en-US" sz="2118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React, TypeScript, Framer Motion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572223" y="3469333"/>
            <a:ext cx="6262572" cy="4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Клиент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www.coredrop.ru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2320214"/>
            <a:ext cx="6614888" cy="1673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7"/>
              </a:lnSpc>
              <a:spcBef>
                <a:spcPct val="0"/>
              </a:spcBef>
            </a:pPr>
            <a:r>
              <a:rPr lang="en-US" b="true" sz="6160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и их использование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572223" y="5112723"/>
            <a:ext cx="6262572" cy="4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База данных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62151" y="5954333"/>
            <a:ext cx="4802309" cy="374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5"/>
              </a:lnSpc>
            </a:pPr>
            <a:r>
              <a:rPr lang="en-US" sz="2118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MySQL (таблицы</a:t>
            </a:r>
            <a:r>
              <a:rPr lang="en-US" sz="2118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 users, folders, files)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581818" y="6850480"/>
            <a:ext cx="6262572" cy="4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Безопасность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50009" y="7794134"/>
            <a:ext cx="4802309" cy="374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5"/>
              </a:lnSpc>
            </a:pPr>
            <a:r>
              <a:rPr lang="en-US" sz="2118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bcrypt, 2FA (Google Authenticator)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602023" y="2702451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36582" y="-11760482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70568" y="1851610"/>
            <a:ext cx="7431120" cy="2017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</a:pPr>
            <a:r>
              <a:rPr lang="en-US" sz="7475" b="true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Архитектура </a:t>
            </a:r>
          </a:p>
          <a:p>
            <a:pPr algn="l">
              <a:lnSpc>
                <a:spcPts val="7774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963374" y="1851610"/>
            <a:ext cx="4127832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проекта</a:t>
            </a:r>
          </a:p>
        </p:txBody>
      </p:sp>
      <p:sp>
        <p:nvSpPr>
          <p:cNvPr name="AutoShape 7" id="7"/>
          <p:cNvSpPr/>
          <p:nvPr/>
        </p:nvSpPr>
        <p:spPr>
          <a:xfrm>
            <a:off x="3849309" y="5973440"/>
            <a:ext cx="292054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477827" y="6824889"/>
            <a:ext cx="3070616" cy="74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2721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Пользователь  →</a:t>
            </a:r>
          </a:p>
          <a:p>
            <a:pPr algn="l">
              <a:lnSpc>
                <a:spcPts val="283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257928" y="7262965"/>
            <a:ext cx="1182761" cy="385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  <a:spcBef>
                <a:spcPct val="0"/>
              </a:spcBef>
            </a:pPr>
            <a:r>
              <a:rPr lang="en-US" b="true" sz="2721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(клик)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93480" y="6824889"/>
            <a:ext cx="3208162" cy="979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2721" b="true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Браузер (React) →</a:t>
            </a:r>
          </a:p>
          <a:p>
            <a:pPr algn="l">
              <a:lnSpc>
                <a:spcPts val="1998"/>
              </a:lnSpc>
            </a:pPr>
          </a:p>
          <a:p>
            <a:pPr algn="l">
              <a:lnSpc>
                <a:spcPts val="283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915862" y="7201465"/>
            <a:ext cx="2650416" cy="367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6"/>
              </a:lnSpc>
              <a:spcBef>
                <a:spcPct val="0"/>
              </a:spcBef>
            </a:pPr>
            <a:r>
              <a:rPr lang="en-US" b="true" sz="2621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(UI-интерфейс)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0712716" y="5973440"/>
            <a:ext cx="25908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9042119" y="6824889"/>
            <a:ext cx="3533982" cy="74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2721" b="true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Сервер (Node.js) →</a:t>
            </a:r>
          </a:p>
          <a:p>
            <a:pPr algn="l">
              <a:lnSpc>
                <a:spcPts val="283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035374" y="7262965"/>
            <a:ext cx="849743" cy="385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  <a:spcBef>
                <a:spcPct val="0"/>
              </a:spcBef>
            </a:pPr>
            <a:r>
              <a:rPr lang="en-US" b="true" sz="2721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(API)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85316" y="6824889"/>
            <a:ext cx="2358999" cy="74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2721" b="true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База данных</a:t>
            </a:r>
          </a:p>
          <a:p>
            <a:pPr algn="l">
              <a:lnSpc>
                <a:spcPts val="283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3006635" y="7262965"/>
            <a:ext cx="1659086" cy="74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2721" b="true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(MySQL)</a:t>
            </a:r>
          </a:p>
          <a:p>
            <a:pPr algn="l">
              <a:lnSpc>
                <a:spcPts val="2830"/>
              </a:lnSpc>
              <a:spcBef>
                <a:spcPct val="0"/>
              </a:spcBef>
            </a:pPr>
          </a:p>
        </p:txBody>
      </p:sp>
      <p:sp>
        <p:nvSpPr>
          <p:cNvPr name="AutoShape 17" id="17"/>
          <p:cNvSpPr/>
          <p:nvPr/>
        </p:nvSpPr>
        <p:spPr>
          <a:xfrm>
            <a:off x="7447200" y="5973440"/>
            <a:ext cx="2492628" cy="13440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Page 6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787240" y="3132406"/>
            <a:ext cx="4181174" cy="418117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171966" y="5634769"/>
            <a:ext cx="677342" cy="67734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04775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769858" y="5634769"/>
            <a:ext cx="677342" cy="677342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04775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035374" y="5634769"/>
            <a:ext cx="677342" cy="677342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04775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303516" y="5634769"/>
            <a:ext cx="677342" cy="677342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04775" cap="sq">
              <a:gradFill>
                <a:gsLst>
                  <a:gs pos="0">
                    <a:srgbClr val="F7E0E1">
                      <a:alpha val="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5309115" y="959401"/>
            <a:ext cx="787433" cy="787433"/>
          </a:xfrm>
          <a:custGeom>
            <a:avLst/>
            <a:gdLst/>
            <a:ahLst/>
            <a:cxnLst/>
            <a:rect r="r" b="b" t="t" l="l"/>
            <a:pathLst>
              <a:path h="787433" w="787433">
                <a:moveTo>
                  <a:pt x="0" y="0"/>
                </a:moveTo>
                <a:lnTo>
                  <a:pt x="787434" y="0"/>
                </a:lnTo>
                <a:lnTo>
                  <a:pt x="787434" y="787434"/>
                </a:lnTo>
                <a:lnTo>
                  <a:pt x="0" y="78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www.coredrop.ru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553531" y="3907508"/>
            <a:ext cx="4354711" cy="457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2"/>
              </a:lnSpc>
              <a:spcBef>
                <a:spcPct val="0"/>
              </a:spcBef>
            </a:pPr>
            <a:r>
              <a:rPr lang="en-US" b="true" sz="330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Схема работы сайта: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47191" y="-1107704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769799" y="360481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64203" y="2137826"/>
            <a:ext cx="6322695" cy="6322695"/>
            <a:chOff x="0" y="0"/>
            <a:chExt cx="14840029" cy="148400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2026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Page 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47191" y="2689234"/>
            <a:ext cx="7940049" cy="2017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</a:pPr>
            <a:r>
              <a:rPr lang="en-US" sz="7475" b="true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Двухфакторная </a:t>
            </a:r>
          </a:p>
          <a:p>
            <a:pPr algn="l">
              <a:lnSpc>
                <a:spcPts val="7774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847191" y="3592708"/>
            <a:ext cx="7940049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аутентификация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47191" y="5497608"/>
            <a:ext cx="7940049" cy="3708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7367" indent="-228683" lvl="1">
              <a:lnSpc>
                <a:spcPts val="2965"/>
              </a:lnSpc>
              <a:buAutoNum type="arabicPeriod" startAt="1"/>
            </a:pPr>
            <a:r>
              <a:rPr lang="en-US" b="true" sz="2118">
                <a:solidFill>
                  <a:srgbClr val="FFFFFA"/>
                </a:solidFill>
                <a:latin typeface="Arimo Bold"/>
                <a:ea typeface="Arimo Bold"/>
                <a:cs typeface="Arimo Bold"/>
                <a:sym typeface="Arimo Bold"/>
              </a:rPr>
              <a:t>В настройках аккаунта есть кнопка «Включить 2FA»</a:t>
            </a:r>
          </a:p>
          <a:p>
            <a:pPr algn="l" marL="457367" indent="-228683" lvl="1">
              <a:lnSpc>
                <a:spcPts val="2965"/>
              </a:lnSpc>
              <a:buAutoNum type="arabicPeriod" startAt="1"/>
            </a:pPr>
            <a:r>
              <a:rPr lang="en-US" b="true" sz="2118">
                <a:solidFill>
                  <a:srgbClr val="FFFFFA"/>
                </a:solidFill>
                <a:latin typeface="Arimo Bold"/>
                <a:ea typeface="Arimo Bold"/>
                <a:cs typeface="Arimo Bold"/>
                <a:sym typeface="Arimo Bold"/>
              </a:rPr>
              <a:t>Система показывает QR-код</a:t>
            </a:r>
          </a:p>
          <a:p>
            <a:pPr algn="l" marL="457367" indent="-228683" lvl="1">
              <a:lnSpc>
                <a:spcPts val="2965"/>
              </a:lnSpc>
              <a:buAutoNum type="arabicPeriod" startAt="1"/>
            </a:pPr>
            <a:r>
              <a:rPr lang="en-US" b="true" sz="2118">
                <a:solidFill>
                  <a:srgbClr val="FFFFFA"/>
                </a:solidFill>
                <a:latin typeface="Arimo Bold"/>
                <a:ea typeface="Arimo Bold"/>
                <a:cs typeface="Arimo Bold"/>
                <a:sym typeface="Arimo Bold"/>
              </a:rPr>
              <a:t>Пользователь сканирует в Google Authenticator</a:t>
            </a:r>
          </a:p>
          <a:p>
            <a:pPr algn="l" marL="457367" indent="-228683" lvl="1">
              <a:lnSpc>
                <a:spcPts val="2965"/>
              </a:lnSpc>
              <a:buAutoNum type="arabicPeriod" startAt="1"/>
            </a:pPr>
            <a:r>
              <a:rPr lang="en-US" b="true" sz="2118">
                <a:solidFill>
                  <a:srgbClr val="FFFFFA"/>
                </a:solidFill>
                <a:latin typeface="Arimo Bold"/>
                <a:ea typeface="Arimo Bold"/>
                <a:cs typeface="Arimo Bold"/>
                <a:sym typeface="Arimo Bold"/>
              </a:rPr>
              <a:t>При входе требуется:</a:t>
            </a:r>
          </a:p>
          <a:p>
            <a:pPr algn="l" marL="914734" indent="-304911" lvl="2">
              <a:lnSpc>
                <a:spcPts val="2965"/>
              </a:lnSpc>
              <a:buFont typeface="Arial"/>
              <a:buChar char="⚬"/>
            </a:pPr>
            <a:r>
              <a:rPr lang="en-US" b="true" sz="2118">
                <a:solidFill>
                  <a:srgbClr val="FFFFFA"/>
                </a:solidFill>
                <a:latin typeface="Arimo Bold"/>
                <a:ea typeface="Arimo Bold"/>
                <a:cs typeface="Arimo Bold"/>
                <a:sym typeface="Arimo Bold"/>
              </a:rPr>
              <a:t>Пароль</a:t>
            </a:r>
          </a:p>
          <a:p>
            <a:pPr algn="l" marL="914734" indent="-304911" lvl="2">
              <a:lnSpc>
                <a:spcPts val="2965"/>
              </a:lnSpc>
              <a:buFont typeface="Arial"/>
              <a:buChar char="⚬"/>
            </a:pPr>
            <a:r>
              <a:rPr lang="en-US" b="true" sz="2118">
                <a:solidFill>
                  <a:srgbClr val="FFFFFA"/>
                </a:solidFill>
                <a:latin typeface="Arimo Bold"/>
                <a:ea typeface="Arimo Bold"/>
                <a:cs typeface="Arimo Bold"/>
                <a:sym typeface="Arimo Bold"/>
              </a:rPr>
              <a:t>Код из приложения (6 цифр)</a:t>
            </a:r>
          </a:p>
          <a:p>
            <a:pPr algn="l">
              <a:lnSpc>
                <a:spcPts val="2965"/>
              </a:lnSpc>
            </a:pPr>
          </a:p>
          <a:p>
            <a:pPr algn="l">
              <a:lnSpc>
                <a:spcPts val="2965"/>
              </a:lnSpc>
            </a:pPr>
            <a:r>
              <a:rPr lang="en-US" sz="2118" b="true">
                <a:solidFill>
                  <a:srgbClr val="FFFFFA"/>
                </a:solidFill>
                <a:latin typeface="Arimo Bold"/>
                <a:ea typeface="Arimo Bold"/>
                <a:cs typeface="Arimo Bold"/>
                <a:sym typeface="Arimo Bold"/>
              </a:rPr>
              <a:t>Резервные коды: 10 кодов на случай потери телефона — сохраняются при включении 2FA</a:t>
            </a:r>
          </a:p>
          <a:p>
            <a:pPr algn="l">
              <a:lnSpc>
                <a:spcPts val="2965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309115" y="959401"/>
            <a:ext cx="787433" cy="787433"/>
          </a:xfrm>
          <a:custGeom>
            <a:avLst/>
            <a:gdLst/>
            <a:ahLst/>
            <a:cxnLst/>
            <a:rect r="r" b="b" t="t" l="l"/>
            <a:pathLst>
              <a:path h="787433" w="787433">
                <a:moveTo>
                  <a:pt x="0" y="0"/>
                </a:moveTo>
                <a:lnTo>
                  <a:pt x="787434" y="0"/>
                </a:lnTo>
                <a:lnTo>
                  <a:pt x="787434" y="787434"/>
                </a:lnTo>
                <a:lnTo>
                  <a:pt x="0" y="787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www.coredrop.ru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949675" y="5429205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2087854">
            <a:off x="7256483" y="4298310"/>
            <a:ext cx="3775035" cy="377503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00025" cap="sq">
              <a:gradFill>
                <a:gsLst>
                  <a:gs pos="0">
                    <a:srgbClr val="F5DFF0">
                      <a:alpha val="29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087854">
            <a:off x="2403831" y="4285380"/>
            <a:ext cx="3775035" cy="377503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00025" cap="sq">
              <a:gradFill>
                <a:gsLst>
                  <a:gs pos="0">
                    <a:srgbClr val="F5DFF0">
                      <a:alpha val="29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087854">
            <a:off x="12171327" y="4285380"/>
            <a:ext cx="3775035" cy="377503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00025" cap="sq">
              <a:gradFill>
                <a:gsLst>
                  <a:gs pos="0">
                    <a:srgbClr val="F5DFF0">
                      <a:alpha val="29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057583" y="-11669586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643816" y="2077592"/>
            <a:ext cx="5102078" cy="2017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</a:pPr>
            <a:r>
              <a:rPr lang="en-US" sz="7475" b="true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Файловый </a:t>
            </a:r>
          </a:p>
          <a:p>
            <a:pPr algn="l">
              <a:lnSpc>
                <a:spcPts val="7774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8930951" y="2077592"/>
            <a:ext cx="5001498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менеджер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3491447" y="3887405"/>
            <a:ext cx="1531575" cy="1537165"/>
          </a:xfrm>
          <a:custGeom>
            <a:avLst/>
            <a:gdLst/>
            <a:ahLst/>
            <a:cxnLst/>
            <a:rect r="r" b="b" t="t" l="l"/>
            <a:pathLst>
              <a:path h="1537165" w="1531575">
                <a:moveTo>
                  <a:pt x="0" y="0"/>
                </a:moveTo>
                <a:lnTo>
                  <a:pt x="1531575" y="0"/>
                </a:lnTo>
                <a:lnTo>
                  <a:pt x="1531575" y="1537165"/>
                </a:lnTo>
                <a:lnTo>
                  <a:pt x="0" y="15371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Page 8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2026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378212" y="3889723"/>
            <a:ext cx="1531575" cy="1537165"/>
          </a:xfrm>
          <a:custGeom>
            <a:avLst/>
            <a:gdLst/>
            <a:ahLst/>
            <a:cxnLst/>
            <a:rect r="r" b="b" t="t" l="l"/>
            <a:pathLst>
              <a:path h="1537165" w="1531575">
                <a:moveTo>
                  <a:pt x="0" y="0"/>
                </a:moveTo>
                <a:lnTo>
                  <a:pt x="1531576" y="0"/>
                </a:lnTo>
                <a:lnTo>
                  <a:pt x="1531576" y="1537165"/>
                </a:lnTo>
                <a:lnTo>
                  <a:pt x="0" y="15371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264978" y="3892040"/>
            <a:ext cx="1531575" cy="1537165"/>
          </a:xfrm>
          <a:custGeom>
            <a:avLst/>
            <a:gdLst/>
            <a:ahLst/>
            <a:cxnLst/>
            <a:rect r="r" b="b" t="t" l="l"/>
            <a:pathLst>
              <a:path h="1537165" w="1531575">
                <a:moveTo>
                  <a:pt x="0" y="0"/>
                </a:moveTo>
                <a:lnTo>
                  <a:pt x="1531575" y="0"/>
                </a:lnTo>
                <a:lnTo>
                  <a:pt x="1531575" y="1537165"/>
                </a:lnTo>
                <a:lnTo>
                  <a:pt x="0" y="15371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769775" y="5164177"/>
            <a:ext cx="3043147" cy="197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📥</a:t>
            </a:r>
          </a:p>
          <a:p>
            <a:pPr algn="ctr">
              <a:lnSpc>
                <a:spcPts val="3927"/>
              </a:lnSpc>
            </a:pPr>
            <a:r>
              <a:rPr lang="en-US" b="true" sz="2805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Загрузка — до 10 файлов одновременно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35434" y="5151248"/>
            <a:ext cx="3217132" cy="197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7"/>
              </a:lnSpc>
            </a:pPr>
            <a:r>
              <a:rPr lang="en-US" b="true" sz="2805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✏️ Переименование — прямо в карточке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85953" y="5164177"/>
            <a:ext cx="3116879" cy="197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7"/>
              </a:lnSpc>
            </a:pPr>
            <a:r>
              <a:rPr lang="en-US" sz="28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🗑️</a:t>
            </a:r>
          </a:p>
          <a:p>
            <a:pPr algn="ctr">
              <a:lnSpc>
                <a:spcPts val="3927"/>
              </a:lnSpc>
            </a:pPr>
            <a:r>
              <a:rPr lang="en-US" b="true" sz="2805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Корзина — файлы хранятся 30 дней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www.coredrop.ru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5309115" y="959401"/>
            <a:ext cx="787433" cy="787433"/>
          </a:xfrm>
          <a:custGeom>
            <a:avLst/>
            <a:gdLst/>
            <a:ahLst/>
            <a:cxnLst/>
            <a:rect r="r" b="b" t="t" l="l"/>
            <a:pathLst>
              <a:path h="787433" w="787433">
                <a:moveTo>
                  <a:pt x="0" y="0"/>
                </a:moveTo>
                <a:lnTo>
                  <a:pt x="787434" y="0"/>
                </a:lnTo>
                <a:lnTo>
                  <a:pt x="787434" y="787434"/>
                </a:lnTo>
                <a:lnTo>
                  <a:pt x="0" y="7874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252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7241479"/>
            <a:ext cx="17956749" cy="16232393"/>
          </a:xfrm>
          <a:custGeom>
            <a:avLst/>
            <a:gdLst/>
            <a:ahLst/>
            <a:cxnLst/>
            <a:rect r="r" b="b" t="t" l="l"/>
            <a:pathLst>
              <a:path h="16232393" w="17956749">
                <a:moveTo>
                  <a:pt x="0" y="0"/>
                </a:moveTo>
                <a:lnTo>
                  <a:pt x="17956749" y="0"/>
                </a:lnTo>
                <a:lnTo>
                  <a:pt x="17956749" y="16232393"/>
                </a:lnTo>
                <a:lnTo>
                  <a:pt x="0" y="16232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78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09115" y="959401"/>
            <a:ext cx="787433" cy="787433"/>
          </a:xfrm>
          <a:custGeom>
            <a:avLst/>
            <a:gdLst/>
            <a:ahLst/>
            <a:cxnLst/>
            <a:rect r="r" b="b" t="t" l="l"/>
            <a:pathLst>
              <a:path h="787433" w="787433">
                <a:moveTo>
                  <a:pt x="0" y="0"/>
                </a:moveTo>
                <a:lnTo>
                  <a:pt x="787434" y="0"/>
                </a:lnTo>
                <a:lnTo>
                  <a:pt x="787434" y="787434"/>
                </a:lnTo>
                <a:lnTo>
                  <a:pt x="0" y="78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4730" y="2093079"/>
            <a:ext cx="15758540" cy="7445910"/>
          </a:xfrm>
          <a:custGeom>
            <a:avLst/>
            <a:gdLst/>
            <a:ahLst/>
            <a:cxnLst/>
            <a:rect r="r" b="b" t="t" l="l"/>
            <a:pathLst>
              <a:path h="7445910" w="15758540">
                <a:moveTo>
                  <a:pt x="0" y="0"/>
                </a:moveTo>
                <a:lnTo>
                  <a:pt x="15758540" y="0"/>
                </a:lnTo>
                <a:lnTo>
                  <a:pt x="15758540" y="7445910"/>
                </a:lnTo>
                <a:lnTo>
                  <a:pt x="0" y="74459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Page 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67446" y="402080"/>
            <a:ext cx="7353109" cy="402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000" b="true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Интерфейс</a:t>
            </a:r>
          </a:p>
          <a:p>
            <a:pPr algn="l">
              <a:lnSpc>
                <a:spcPts val="10400"/>
              </a:lnSpc>
            </a:pPr>
          </a:p>
          <a:p>
            <a:pPr algn="l">
              <a:lnSpc>
                <a:spcPts val="104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09571" y="-12081314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5426888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2087854">
            <a:off x="8692143" y="2781219"/>
            <a:ext cx="615450" cy="61545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04775" cap="sq">
              <a:gradFill>
                <a:gsLst>
                  <a:gs pos="0">
                    <a:srgbClr val="F5DFF0">
                      <a:alpha val="3500"/>
                    </a:srgbClr>
                  </a:gs>
                  <a:gs pos="100000">
                    <a:srgbClr val="C6269E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513989" y="5426888"/>
            <a:ext cx="3419509" cy="3419509"/>
          </a:xfrm>
          <a:custGeom>
            <a:avLst/>
            <a:gdLst/>
            <a:ahLst/>
            <a:cxnLst/>
            <a:rect r="r" b="b" t="t" l="l"/>
            <a:pathLst>
              <a:path h="3419509" w="3419509">
                <a:moveTo>
                  <a:pt x="0" y="0"/>
                </a:moveTo>
                <a:lnTo>
                  <a:pt x="3419509" y="0"/>
                </a:lnTo>
                <a:lnTo>
                  <a:pt x="3419509" y="3419508"/>
                </a:lnTo>
                <a:lnTo>
                  <a:pt x="0" y="3419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Page 10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1242" y="1064176"/>
            <a:ext cx="7092393" cy="2017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</a:pPr>
            <a:r>
              <a:rPr lang="en-US" sz="7475" b="true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Безопасность</a:t>
            </a:r>
          </a:p>
          <a:p>
            <a:pPr algn="l">
              <a:lnSpc>
                <a:spcPts val="7774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91242" y="2196791"/>
            <a:ext cx="4842255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данных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72782" y="2790242"/>
            <a:ext cx="4517402" cy="53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7"/>
              </a:lnSpc>
            </a:pPr>
            <a:r>
              <a:rPr lang="en-US" sz="3105" b="true">
                <a:solidFill>
                  <a:srgbClr val="FFFFFA"/>
                </a:solidFill>
                <a:latin typeface="Raleway Bold"/>
                <a:ea typeface="Raleway Bold"/>
                <a:cs typeface="Raleway Bold"/>
                <a:sym typeface="Raleway Bold"/>
              </a:rPr>
              <a:t>Реализованные меры: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21432" y="3813810"/>
            <a:ext cx="9069789" cy="544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🔐 Пароли - хешируются bcrypt (даже админ не узнает)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🎫 Сессии - JWT-токены, действительны в течение 7 дней 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(Он используется для аутентификации и авторизации: сервер создает токен, подписывает его секретным ключом, а клиент предъявляет его для доступа к защищенным ресурсам)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📱 2FA - Google Authenticator (можно включить)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🔄 Резервные коды - хранятся в зашифрованном виде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A"/>
                </a:solidFill>
                <a:latin typeface="Raleway"/>
                <a:ea typeface="Raleway"/>
                <a:cs typeface="Raleway"/>
                <a:sym typeface="Raleway"/>
              </a:rPr>
              <a:t>👁️ Контроль сессий - в настройках видно все активные входы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www.coredrop.ru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309115" y="959401"/>
            <a:ext cx="787433" cy="787433"/>
          </a:xfrm>
          <a:custGeom>
            <a:avLst/>
            <a:gdLst/>
            <a:ahLst/>
            <a:cxnLst/>
            <a:rect r="r" b="b" t="t" l="l"/>
            <a:pathLst>
              <a:path h="787433" w="787433">
                <a:moveTo>
                  <a:pt x="0" y="0"/>
                </a:moveTo>
                <a:lnTo>
                  <a:pt x="787434" y="0"/>
                </a:lnTo>
                <a:lnTo>
                  <a:pt x="787434" y="787434"/>
                </a:lnTo>
                <a:lnTo>
                  <a:pt x="0" y="787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23736" y="4069971"/>
            <a:ext cx="5378797" cy="1356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  <a:spcBef>
                <a:spcPct val="0"/>
              </a:spcBef>
            </a:pPr>
            <a:r>
              <a:rPr lang="en-US" sz="255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Защита от:</a:t>
            </a:r>
          </a:p>
          <a:p>
            <a:pPr algn="l" marL="552414" indent="-276207" lvl="1">
              <a:lnSpc>
                <a:spcPts val="2661"/>
              </a:lnSpc>
              <a:spcBef>
                <a:spcPct val="0"/>
              </a:spcBef>
              <a:buAutoNum type="arabicPeriod" startAt="1"/>
            </a:pPr>
            <a:r>
              <a:rPr lang="en-US" sz="255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Взлома паролей</a:t>
            </a:r>
          </a:p>
          <a:p>
            <a:pPr algn="l" marL="552414" indent="-276207" lvl="1">
              <a:lnSpc>
                <a:spcPts val="2661"/>
              </a:lnSpc>
              <a:spcBef>
                <a:spcPct val="0"/>
              </a:spcBef>
              <a:buAutoNum type="arabicPeriod" startAt="1"/>
            </a:pPr>
            <a:r>
              <a:rPr lang="en-US" sz="255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Кражи сессий</a:t>
            </a:r>
          </a:p>
          <a:p>
            <a:pPr algn="l" marL="552414" indent="-276207" lvl="1">
              <a:lnSpc>
                <a:spcPts val="2661"/>
              </a:lnSpc>
              <a:spcBef>
                <a:spcPct val="0"/>
              </a:spcBef>
              <a:buAutoNum type="arabicPeriod" startAt="1"/>
            </a:pPr>
            <a:r>
              <a:rPr lang="en-US" sz="255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Несанкционированного доступа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633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5426888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64203" y="4674897"/>
            <a:ext cx="5246370" cy="2807970"/>
            <a:chOff x="0" y="0"/>
            <a:chExt cx="812800" cy="4350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435028"/>
            </a:xfrm>
            <a:custGeom>
              <a:avLst/>
              <a:gdLst/>
              <a:ahLst/>
              <a:cxnLst/>
              <a:rect r="r" b="b" t="t" l="l"/>
              <a:pathLst>
                <a:path h="435028" w="812800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401088"/>
                  </a:lnTo>
                  <a:cubicBezTo>
                    <a:pt x="812800" y="419832"/>
                    <a:pt x="797604" y="435028"/>
                    <a:pt x="778860" y="435028"/>
                  </a:cubicBezTo>
                  <a:lnTo>
                    <a:pt x="33940" y="435028"/>
                  </a:lnTo>
                  <a:cubicBezTo>
                    <a:pt x="15196" y="435028"/>
                    <a:pt x="0" y="419832"/>
                    <a:pt x="0" y="401088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2240" r="0" b="-12240"/>
              </a:stretch>
            </a:blipFill>
            <a:ln w="47625" cap="rnd">
              <a:gradFill>
                <a:gsLst>
                  <a:gs pos="0">
                    <a:srgbClr val="C6269E">
                      <a:alpha val="100000"/>
                    </a:srgbClr>
                  </a:gs>
                  <a:gs pos="100000">
                    <a:srgbClr val="DDBAFF">
                      <a:alpha val="12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aphicFrame>
        <p:nvGraphicFramePr>
          <p:cNvPr name="Object 6" id="6"/>
          <p:cNvGraphicFramePr/>
          <p:nvPr/>
        </p:nvGraphicFramePr>
        <p:xfrm>
          <a:off x="7745722" y="3677675"/>
          <a:ext cx="3771900" cy="3143250"/>
        </p:xfrm>
        <a:graphic>
          <a:graphicData uri="http://schemas.openxmlformats.org/presentationml/2006/ole">
            <p:oleObj imgW="4521200" imgH="3886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Page 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86728" y="2053901"/>
            <a:ext cx="12711875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Кроссплатформенность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309115" y="959401"/>
            <a:ext cx="787433" cy="787433"/>
          </a:xfrm>
          <a:custGeom>
            <a:avLst/>
            <a:gdLst/>
            <a:ahLst/>
            <a:cxnLst/>
            <a:rect r="r" b="b" t="t" l="l"/>
            <a:pathLst>
              <a:path h="787433" w="787433">
                <a:moveTo>
                  <a:pt x="0" y="0"/>
                </a:moveTo>
                <a:lnTo>
                  <a:pt x="787434" y="0"/>
                </a:lnTo>
                <a:lnTo>
                  <a:pt x="787434" y="787434"/>
                </a:lnTo>
                <a:lnTo>
                  <a:pt x="0" y="78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www.coredrop.ru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17128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50" y="0"/>
                </a:lnTo>
                <a:lnTo>
                  <a:pt x="17956750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40649" y="5426888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456008" y="3291372"/>
            <a:ext cx="9014558" cy="4824785"/>
            <a:chOff x="0" y="0"/>
            <a:chExt cx="812800" cy="4350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435028"/>
            </a:xfrm>
            <a:custGeom>
              <a:avLst/>
              <a:gdLst/>
              <a:ahLst/>
              <a:cxnLst/>
              <a:rect r="r" b="b" t="t" l="l"/>
              <a:pathLst>
                <a:path h="435028" w="812800">
                  <a:moveTo>
                    <a:pt x="19753" y="0"/>
                  </a:moveTo>
                  <a:lnTo>
                    <a:pt x="793047" y="0"/>
                  </a:lnTo>
                  <a:cubicBezTo>
                    <a:pt x="803956" y="0"/>
                    <a:pt x="812800" y="8844"/>
                    <a:pt x="812800" y="19753"/>
                  </a:cubicBezTo>
                  <a:lnTo>
                    <a:pt x="812800" y="415275"/>
                  </a:lnTo>
                  <a:cubicBezTo>
                    <a:pt x="812800" y="426184"/>
                    <a:pt x="803956" y="435028"/>
                    <a:pt x="793047" y="435028"/>
                  </a:cubicBezTo>
                  <a:lnTo>
                    <a:pt x="19753" y="435028"/>
                  </a:lnTo>
                  <a:cubicBezTo>
                    <a:pt x="8844" y="435028"/>
                    <a:pt x="0" y="426184"/>
                    <a:pt x="0" y="415275"/>
                  </a:cubicBezTo>
                  <a:lnTo>
                    <a:pt x="0" y="19753"/>
                  </a:lnTo>
                  <a:cubicBezTo>
                    <a:pt x="0" y="8844"/>
                    <a:pt x="8844" y="0"/>
                    <a:pt x="19753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380" r="0" b="-1380"/>
              </a:stretch>
            </a:blipFill>
            <a:ln w="47625" cap="rnd">
              <a:gradFill>
                <a:gsLst>
                  <a:gs pos="0">
                    <a:srgbClr val="C6269E">
                      <a:alpha val="100000"/>
                    </a:srgbClr>
                  </a:gs>
                  <a:gs pos="100000">
                    <a:srgbClr val="DDBAFF">
                      <a:alpha val="12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sp>
        <p:nvSpPr>
          <p:cNvPr name="TextBox 6" id="6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Page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243747"/>
            <a:ext cx="8677827" cy="5194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7367" indent="-228683" lvl="1">
              <a:lnSpc>
                <a:spcPts val="2965"/>
              </a:lnSpc>
              <a:buAutoNum type="arabicPeriod" startAt="1"/>
            </a:pPr>
            <a:r>
              <a:rPr lang="en-US" sz="2118">
                <a:solidFill>
                  <a:srgbClr val="FFFFFA"/>
                </a:solidFill>
                <a:latin typeface="Arimo"/>
                <a:ea typeface="Arimo"/>
                <a:cs typeface="Arimo"/>
                <a:sym typeface="Arimo"/>
              </a:rPr>
              <a:t>Разработано веб-приложение CoreDrop - облачное хранилище с полным циклом работы: от регистрации до скачивания файлов.</a:t>
            </a:r>
          </a:p>
          <a:p>
            <a:pPr algn="l" marL="457367" indent="-228683" lvl="1">
              <a:lnSpc>
                <a:spcPts val="2965"/>
              </a:lnSpc>
              <a:buAutoNum type="arabicPeriod" startAt="1"/>
            </a:pPr>
            <a:r>
              <a:rPr lang="en-US" sz="2118">
                <a:solidFill>
                  <a:srgbClr val="FFFFFA"/>
                </a:solidFill>
                <a:latin typeface="Arimo"/>
                <a:ea typeface="Arimo"/>
                <a:cs typeface="Arimo"/>
                <a:sym typeface="Arimo"/>
              </a:rPr>
              <a:t>Реализован ключевой функционал: загрузка/скачивание файлов, создание папок, избранное, корзина, публичные ссылки.</a:t>
            </a:r>
          </a:p>
          <a:p>
            <a:pPr algn="l" marL="457367" indent="-228683" lvl="1">
              <a:lnSpc>
                <a:spcPts val="2965"/>
              </a:lnSpc>
              <a:buAutoNum type="arabicPeriod" startAt="1"/>
            </a:pPr>
            <a:r>
              <a:rPr lang="en-US" sz="2118">
                <a:solidFill>
                  <a:srgbClr val="FFFFFA"/>
                </a:solidFill>
                <a:latin typeface="Arimo"/>
                <a:ea typeface="Arimo"/>
                <a:cs typeface="Arimo"/>
                <a:sym typeface="Arimo"/>
              </a:rPr>
              <a:t>Внедрена двухфакторная аутентификация - пользователи могут защитить аккаунт через Google Authenticator.</a:t>
            </a:r>
          </a:p>
          <a:p>
            <a:pPr algn="l" marL="457367" indent="-228683" lvl="1">
              <a:lnSpc>
                <a:spcPts val="2965"/>
              </a:lnSpc>
              <a:buAutoNum type="arabicPeriod" startAt="1"/>
            </a:pPr>
            <a:r>
              <a:rPr lang="en-US" sz="2118">
                <a:solidFill>
                  <a:srgbClr val="FFFFFA"/>
                </a:solidFill>
                <a:latin typeface="Arimo"/>
                <a:ea typeface="Arimo"/>
                <a:cs typeface="Arimo"/>
                <a:sym typeface="Arimo"/>
              </a:rPr>
              <a:t>Обеспечена кроссплатформенность - приложение одинаково хорошо работает на компьютерах, планшетах и смартфонах.</a:t>
            </a:r>
          </a:p>
          <a:p>
            <a:pPr algn="l" marL="457367" indent="-228683" lvl="1">
              <a:lnSpc>
                <a:spcPts val="2965"/>
              </a:lnSpc>
              <a:buAutoNum type="arabicPeriod" startAt="1"/>
            </a:pPr>
            <a:r>
              <a:rPr lang="en-US" sz="2118">
                <a:solidFill>
                  <a:srgbClr val="FFFFFA"/>
                </a:solidFill>
                <a:latin typeface="Arimo"/>
                <a:ea typeface="Arimo"/>
                <a:cs typeface="Arimo"/>
                <a:sym typeface="Arimo"/>
              </a:rPr>
              <a:t>Проведено тестирование - все функции работают стабильно, ошибок не выявлено.</a:t>
            </a:r>
          </a:p>
          <a:p>
            <a:pPr algn="l" marL="457367" indent="-228683" lvl="1">
              <a:lnSpc>
                <a:spcPts val="2965"/>
              </a:lnSpc>
              <a:buAutoNum type="arabicPeriod" startAt="1"/>
            </a:pPr>
            <a:r>
              <a:rPr lang="en-US" sz="2118">
                <a:solidFill>
                  <a:srgbClr val="FFFFFA"/>
                </a:solidFill>
                <a:latin typeface="Arimo"/>
                <a:ea typeface="Arimo"/>
                <a:cs typeface="Arimo"/>
                <a:sym typeface="Arimo"/>
              </a:rPr>
              <a:t>Подготовлена документация -</a:t>
            </a:r>
            <a:r>
              <a:rPr lang="en-US" sz="2118">
                <a:solidFill>
                  <a:srgbClr val="FFFFFA"/>
                </a:solidFill>
                <a:latin typeface="Arimo"/>
                <a:ea typeface="Arimo"/>
                <a:cs typeface="Arimo"/>
                <a:sym typeface="Arimo"/>
              </a:rPr>
              <a:t> проект оформлен в соответствии с требованиями, содержит пояснительную записку, презентацию и скриншоты.</a:t>
            </a:r>
          </a:p>
          <a:p>
            <a:pPr algn="l">
              <a:lnSpc>
                <a:spcPts val="2965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16352" y="935913"/>
            <a:ext cx="6979147" cy="2017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</a:pPr>
            <a:r>
              <a:rPr lang="en-US" sz="7475" b="true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РЕЗУЛЬТАТЫ</a:t>
            </a:r>
          </a:p>
          <a:p>
            <a:pPr algn="l">
              <a:lnSpc>
                <a:spcPts val="7774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416352" y="1997199"/>
            <a:ext cx="4842255" cy="10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4"/>
              </a:lnSpc>
              <a:spcBef>
                <a:spcPct val="0"/>
              </a:spcBef>
            </a:pPr>
            <a:r>
              <a:rPr lang="en-US" b="true" sz="7475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работы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309115" y="959401"/>
            <a:ext cx="787433" cy="787433"/>
          </a:xfrm>
          <a:custGeom>
            <a:avLst/>
            <a:gdLst/>
            <a:ahLst/>
            <a:cxnLst/>
            <a:rect r="r" b="b" t="t" l="l"/>
            <a:pathLst>
              <a:path h="787433" w="787433">
                <a:moveTo>
                  <a:pt x="0" y="0"/>
                </a:moveTo>
                <a:lnTo>
                  <a:pt x="787434" y="0"/>
                </a:lnTo>
                <a:lnTo>
                  <a:pt x="787434" y="787434"/>
                </a:lnTo>
                <a:lnTo>
                  <a:pt x="0" y="787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www.coredrop.ru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5975" y="2879361"/>
            <a:ext cx="17696051" cy="4528278"/>
            <a:chOff x="0" y="0"/>
            <a:chExt cx="2636283" cy="6746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36283" cy="674604"/>
            </a:xfrm>
            <a:custGeom>
              <a:avLst/>
              <a:gdLst/>
              <a:ahLst/>
              <a:cxnLst/>
              <a:rect r="r" b="b" t="t" l="l"/>
              <a:pathLst>
                <a:path h="674604" w="2636283">
                  <a:moveTo>
                    <a:pt x="2433083" y="0"/>
                  </a:moveTo>
                  <a:cubicBezTo>
                    <a:pt x="2545307" y="0"/>
                    <a:pt x="2636283" y="151015"/>
                    <a:pt x="2636283" y="337302"/>
                  </a:cubicBezTo>
                  <a:cubicBezTo>
                    <a:pt x="2636283" y="523589"/>
                    <a:pt x="2545307" y="674604"/>
                    <a:pt x="2433083" y="674604"/>
                  </a:cubicBezTo>
                  <a:lnTo>
                    <a:pt x="203200" y="674604"/>
                  </a:lnTo>
                  <a:cubicBezTo>
                    <a:pt x="90976" y="674604"/>
                    <a:pt x="0" y="523589"/>
                    <a:pt x="0" y="337302"/>
                  </a:cubicBezTo>
                  <a:cubicBezTo>
                    <a:pt x="0" y="151015"/>
                    <a:pt x="90976" y="0"/>
                    <a:pt x="203200" y="0"/>
                  </a:cubicBezTo>
                  <a:close/>
                </a:path>
              </a:pathLst>
            </a:custGeom>
            <a:ln w="114300" cap="sq">
              <a:gradFill>
                <a:gsLst>
                  <a:gs pos="0">
                    <a:srgbClr val="C6269E">
                      <a:alpha val="100000"/>
                    </a:srgbClr>
                  </a:gs>
                  <a:gs pos="100000">
                    <a:srgbClr val="DDBAFF">
                      <a:alpha val="12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2636283" cy="6460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525283" y="-12620097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5"/>
                </a:lnTo>
                <a:lnTo>
                  <a:pt x="0" y="18046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140649" y="5426888"/>
            <a:ext cx="17956749" cy="18046984"/>
          </a:xfrm>
          <a:custGeom>
            <a:avLst/>
            <a:gdLst/>
            <a:ahLst/>
            <a:cxnLst/>
            <a:rect r="r" b="b" t="t" l="l"/>
            <a:pathLst>
              <a:path h="18046984" w="17956749">
                <a:moveTo>
                  <a:pt x="0" y="0"/>
                </a:moveTo>
                <a:lnTo>
                  <a:pt x="17956749" y="0"/>
                </a:lnTo>
                <a:lnTo>
                  <a:pt x="17956749" y="18046984"/>
                </a:lnTo>
                <a:lnTo>
                  <a:pt x="0" y="1804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348726" y="3120104"/>
            <a:ext cx="9590548" cy="202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65"/>
              </a:lnSpc>
              <a:spcBef>
                <a:spcPct val="0"/>
              </a:spcBef>
            </a:pPr>
            <a:r>
              <a:rPr lang="en-US" b="true" sz="14678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Спасибо</a:t>
            </a:r>
          </a:p>
        </p:txBody>
      </p:sp>
      <p:sp>
        <p:nvSpPr>
          <p:cNvPr name="TextBox 8" id="8"/>
          <p:cNvSpPr txBox="true"/>
          <p:nvPr/>
        </p:nvSpPr>
        <p:spPr>
          <a:xfrm rot="-5400000">
            <a:off x="129306" y="8878128"/>
            <a:ext cx="1078468" cy="24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5"/>
              </a:lnSpc>
              <a:spcBef>
                <a:spcPct val="0"/>
              </a:spcBef>
            </a:pPr>
            <a:r>
              <a:rPr lang="en-US" sz="16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Page 13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15179" y="1221648"/>
            <a:ext cx="944121" cy="29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  <a:spcBef>
                <a:spcPct val="0"/>
              </a:spcBef>
            </a:pPr>
            <a:r>
              <a:rPr lang="en-US" sz="215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15708" y="5130111"/>
            <a:ext cx="12456584" cy="202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65"/>
              </a:lnSpc>
              <a:spcBef>
                <a:spcPct val="0"/>
              </a:spcBef>
            </a:pPr>
            <a:r>
              <a:rPr lang="en-US" b="true" sz="14678">
                <a:solidFill>
                  <a:srgbClr val="C6269E"/>
                </a:solidFill>
                <a:latin typeface="Raleway Bold"/>
                <a:ea typeface="Raleway Bold"/>
                <a:cs typeface="Raleway Bold"/>
                <a:sym typeface="Raleway Bold"/>
              </a:rPr>
              <a:t>за внимание!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64203" y="9090445"/>
            <a:ext cx="4697863" cy="2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7"/>
              </a:lnSpc>
              <a:spcBef>
                <a:spcPct val="0"/>
              </a:spcBef>
            </a:pPr>
            <a:r>
              <a:rPr lang="en-US" sz="195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www.coredrop.ru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309115" y="959401"/>
            <a:ext cx="787433" cy="787433"/>
          </a:xfrm>
          <a:custGeom>
            <a:avLst/>
            <a:gdLst/>
            <a:ahLst/>
            <a:cxnLst/>
            <a:rect r="r" b="b" t="t" l="l"/>
            <a:pathLst>
              <a:path h="787433" w="787433">
                <a:moveTo>
                  <a:pt x="0" y="0"/>
                </a:moveTo>
                <a:lnTo>
                  <a:pt x="787434" y="0"/>
                </a:lnTo>
                <a:lnTo>
                  <a:pt x="787434" y="787434"/>
                </a:lnTo>
                <a:lnTo>
                  <a:pt x="0" y="78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DAHEUTSLhgI</dc:identifier>
  <dcterms:modified xsi:type="dcterms:W3CDTF">2011-08-01T06:04:30Z</dcterms:modified>
  <cp:revision>1</cp:revision>
  <dc:title>Cyan Gradient Technology Startup Business Company Presentation</dc:title>
</cp:coreProperties>
</file>